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264640" cy="80467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264640" cy="804672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73152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0" y="0"/>
            <a:ext cx="4754880" cy="73152"/>
          </a:xfrm>
          <a:prstGeom prst="rect">
            <a:avLst/>
          </a:prstGeom>
          <a:solidFill>
            <a:srgbClr val="009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509760" y="0"/>
            <a:ext cx="4754880" cy="73152"/>
          </a:xfrm>
          <a:prstGeom prst="rect">
            <a:avLst/>
          </a:prstGeom>
          <a:solidFill>
            <a:srgbClr val="005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8220"/>
                </a:solidFill>
                <a:latin typeface="Calibri"/>
              </a:rPr>
              <a:t>FPT TELECOM · FCP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B0B0B"/>
                </a:solidFill>
                <a:latin typeface="Calibri"/>
              </a:rPr>
              <a:t>Product Roadmap theo tháng — Product Backlog FCP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60120"/>
            <a:ext cx="1005840" cy="228600"/>
          </a:xfrm>
          <a:prstGeom prst="roundRect">
            <a:avLst/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10058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A78D6"/>
                </a:solidFill>
                <a:latin typeface="Calibri"/>
              </a:rPr>
              <a:t>CMS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00200" y="960120"/>
            <a:ext cx="1005840" cy="228600"/>
          </a:xfrm>
          <a:prstGeom prst="roundRect">
            <a:avLst/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960120"/>
            <a:ext cx="10058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EB6834"/>
                </a:solidFill>
                <a:latin typeface="Calibri"/>
              </a:rPr>
              <a:t>Web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960120"/>
            <a:ext cx="1005840" cy="228600"/>
          </a:xfrm>
          <a:prstGeom prst="roundRect">
            <a:avLst/>
          </a:prstGeom>
          <a:solidFill>
            <a:srgbClr val="E6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960120"/>
            <a:ext cx="10058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BAF7A"/>
                </a:solidFill>
                <a:latin typeface="Calibri"/>
              </a:rPr>
              <a:t>Cart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960120"/>
            <a:ext cx="1005840" cy="228600"/>
          </a:xfrm>
          <a:prstGeom prst="roundRect">
            <a:avLst/>
          </a:prstGeom>
          <a:solidFill>
            <a:srgbClr val="EE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960120"/>
            <a:ext cx="10058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5B5850"/>
                </a:solidFill>
                <a:latin typeface="Calibri"/>
              </a:rPr>
              <a:t>Chưa gán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960120"/>
            <a:ext cx="1417320" cy="228600"/>
          </a:xfrm>
          <a:prstGeom prst="roundRect">
            <a:avLst/>
          </a:prstGeom>
          <a:solidFill>
            <a:srgbClr val="E5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960120"/>
            <a:ext cx="1417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CA30C"/>
                </a:solidFill>
                <a:latin typeface="Calibri"/>
              </a:rPr>
              <a:t>● Hoàn thành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60" y="960120"/>
            <a:ext cx="1417320" cy="228600"/>
          </a:xfrm>
          <a:prstGeom prst="roundRect">
            <a:avLst/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960120"/>
            <a:ext cx="1417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A78D6"/>
                </a:solidFill>
                <a:latin typeface="Calibri"/>
              </a:rPr>
              <a:t>● Đang phân tích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247120" y="960120"/>
            <a:ext cx="1417320" cy="228600"/>
          </a:xfrm>
          <a:prstGeom prst="roundRect">
            <a:avLst/>
          </a:prstGeom>
          <a:solidFill>
            <a:srgbClr val="FBF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47120" y="960120"/>
            <a:ext cx="1417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B8860B"/>
                </a:solidFill>
                <a:latin typeface="Calibri"/>
              </a:rPr>
              <a:t>● Đã tiếp nhận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755880" y="960120"/>
            <a:ext cx="1417320" cy="228600"/>
          </a:xfrm>
          <a:prstGeom prst="roundRect">
            <a:avLst/>
          </a:prstGeom>
          <a:solidFill>
            <a:srgbClr val="EF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755880" y="960120"/>
            <a:ext cx="1417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898781"/>
                </a:solidFill>
                <a:latin typeface="Calibri"/>
              </a:rPr>
              <a:t>● Chưa tiếp nhận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1371600"/>
            <a:ext cx="2538374" cy="3483864"/>
          </a:xfrm>
          <a:prstGeom prst="round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1508760"/>
            <a:ext cx="54864" cy="2011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1481328"/>
            <a:ext cx="217261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B0B0B"/>
                </a:solidFill>
                <a:latin typeface="Calibri"/>
              </a:rPr>
              <a:t>Tháng 8/2026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1737360"/>
            <a:ext cx="153253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2514E"/>
                </a:solidFill>
                <a:latin typeface="Calibri"/>
              </a:rPr>
              <a:t>Nền tảng Cart &amp; Checkout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35454" y="1737360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52514E"/>
                </a:solidFill>
                <a:latin typeface="Calibri"/>
              </a:rPr>
              <a:t>4 hạng mục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1938528"/>
            <a:ext cx="2318918" cy="603504"/>
          </a:xfrm>
          <a:prstGeom prst="round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1993392"/>
            <a:ext cx="45720" cy="49377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13232" y="2002536"/>
            <a:ext cx="594360" cy="155448"/>
          </a:xfrm>
          <a:prstGeom prst="roundRect">
            <a:avLst/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2002536"/>
            <a:ext cx="59436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EB6834"/>
                </a:solidFill>
                <a:latin typeface="Calibri"/>
              </a:rPr>
              <a:t>WEB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71600" y="2002536"/>
            <a:ext cx="1051560" cy="155448"/>
          </a:xfrm>
          <a:prstGeom prst="roundRect">
            <a:avLst/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02536"/>
            <a:ext cx="105156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2A78D6"/>
                </a:solidFill>
                <a:latin typeface="Calibri"/>
              </a:rPr>
              <a:t>● Đang phân tích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2185416"/>
            <a:ext cx="212689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B0B0B"/>
                </a:solidFill>
                <a:latin typeface="Calibri"/>
              </a:rPr>
              <a:t>Luồng giỏ hàng — add-on nhiều SP/SKU/SA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2377440"/>
            <a:ext cx="21268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898781"/>
                </a:solidFill>
                <a:latin typeface="Calibri"/>
              </a:rPr>
              <a:t>ThuyTT104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2633472"/>
            <a:ext cx="2318918" cy="603504"/>
          </a:xfrm>
          <a:prstGeom prst="round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2688336"/>
            <a:ext cx="45720" cy="493776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13232" y="2697479"/>
            <a:ext cx="594360" cy="155448"/>
          </a:xfrm>
          <a:prstGeom prst="roundRect">
            <a:avLst/>
          </a:prstGeom>
          <a:solidFill>
            <a:srgbClr val="E6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2697479"/>
            <a:ext cx="59436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1BAF7A"/>
                </a:solidFill>
                <a:latin typeface="Calibri"/>
              </a:rPr>
              <a:t>CART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371600" y="2697479"/>
            <a:ext cx="1051560" cy="155448"/>
          </a:xfrm>
          <a:prstGeom prst="roundRect">
            <a:avLst/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71600" y="2697479"/>
            <a:ext cx="105156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2A78D6"/>
                </a:solidFill>
                <a:latin typeface="Calibri"/>
              </a:rPr>
              <a:t>● Đang phân tích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2880360"/>
            <a:ext cx="212689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B0B0B"/>
                </a:solidFill>
                <a:latin typeface="Calibri"/>
              </a:rPr>
              <a:t>[BE] Luồng giỏ hàng — nhu cầu FE theo kênh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" y="3072384"/>
            <a:ext cx="21268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898781"/>
                </a:solidFill>
                <a:latin typeface="Calibri"/>
              </a:rPr>
              <a:t>Yennt122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3328415"/>
            <a:ext cx="2318918" cy="603504"/>
          </a:xfrm>
          <a:prstGeom prst="round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6928" y="3383279"/>
            <a:ext cx="45720" cy="493776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13232" y="3392423"/>
            <a:ext cx="594360" cy="155448"/>
          </a:xfrm>
          <a:prstGeom prst="roundRect">
            <a:avLst/>
          </a:prstGeom>
          <a:solidFill>
            <a:srgbClr val="E6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" y="3392423"/>
            <a:ext cx="59436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1BAF7A"/>
                </a:solidFill>
                <a:latin typeface="Calibri"/>
              </a:rPr>
              <a:t>CART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371600" y="3392423"/>
            <a:ext cx="1051560" cy="155448"/>
          </a:xfrm>
          <a:prstGeom prst="roundRect">
            <a:avLst/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71600" y="3392423"/>
            <a:ext cx="105156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2A78D6"/>
                </a:solidFill>
                <a:latin typeface="Calibri"/>
              </a:rPr>
              <a:t>● Đang phân tích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3575303"/>
            <a:ext cx="212689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B0B0B"/>
                </a:solidFill>
                <a:latin typeface="Calibri"/>
              </a:rPr>
              <a:t>[BE] Luồng giỏ hàng — phân tích chi tiết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" y="3767328"/>
            <a:ext cx="21268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898781"/>
                </a:solidFill>
                <a:latin typeface="Calibri"/>
              </a:rPr>
              <a:t>Thanhvt58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6928" y="4023359"/>
            <a:ext cx="2318918" cy="603504"/>
          </a:xfrm>
          <a:prstGeom prst="round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" y="4078223"/>
            <a:ext cx="45720" cy="49377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13232" y="4087368"/>
            <a:ext cx="594360" cy="155448"/>
          </a:xfrm>
          <a:prstGeom prst="roundRect">
            <a:avLst/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3232" y="4087368"/>
            <a:ext cx="59436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2A78D6"/>
                </a:solidFill>
                <a:latin typeface="Calibri"/>
              </a:rPr>
              <a:t>CMS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371600" y="4087368"/>
            <a:ext cx="1051560" cy="155448"/>
          </a:xfrm>
          <a:prstGeom prst="roundRect">
            <a:avLst/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371600" y="4087368"/>
            <a:ext cx="105156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2A78D6"/>
                </a:solidFill>
                <a:latin typeface="Calibri"/>
              </a:rPr>
              <a:t>● Đang phân tích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3232" y="4270248"/>
            <a:ext cx="212689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B0B0B"/>
                </a:solidFill>
                <a:latin typeface="Calibri"/>
              </a:rPr>
              <a:t>Cấu hình hiển thị checkout theo kênh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232" y="4462272"/>
            <a:ext cx="21268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898781"/>
                </a:solidFill>
                <a:latin typeface="Calibri"/>
              </a:rPr>
              <a:t>LongNH156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160166" y="1371600"/>
            <a:ext cx="2538374" cy="3483864"/>
          </a:xfrm>
          <a:prstGeom prst="round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297326" y="1508760"/>
            <a:ext cx="54864" cy="2011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34486" y="1481328"/>
            <a:ext cx="217261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B0B0B"/>
                </a:solidFill>
                <a:latin typeface="Calibri"/>
              </a:rPr>
              <a:t>Tháng 9/2026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97326" y="1737360"/>
            <a:ext cx="153253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2514E"/>
                </a:solidFill>
                <a:latin typeface="Calibri"/>
              </a:rPr>
              <a:t>Thanh toán &amp; Voucher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38420" y="1737360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52514E"/>
                </a:solidFill>
                <a:latin typeface="Calibri"/>
              </a:rPr>
              <a:t>4 hạng mục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269894" y="1938528"/>
            <a:ext cx="2318918" cy="603504"/>
          </a:xfrm>
          <a:prstGeom prst="round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269894" y="1993392"/>
            <a:ext cx="45720" cy="49377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416198" y="2002536"/>
            <a:ext cx="594360" cy="155448"/>
          </a:xfrm>
          <a:prstGeom prst="roundRect">
            <a:avLst/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16198" y="2002536"/>
            <a:ext cx="59436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2A78D6"/>
                </a:solidFill>
                <a:latin typeface="Calibri"/>
              </a:rPr>
              <a:t>CMS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074566" y="2002536"/>
            <a:ext cx="1051560" cy="155448"/>
          </a:xfrm>
          <a:prstGeom prst="roundRect">
            <a:avLst/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074566" y="2002536"/>
            <a:ext cx="105156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2A78D6"/>
                </a:solidFill>
                <a:latin typeface="Calibri"/>
              </a:rPr>
              <a:t>● Đang phân tích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16198" y="2185416"/>
            <a:ext cx="212689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B0B0B"/>
                </a:solidFill>
                <a:latin typeface="Calibri"/>
              </a:rPr>
              <a:t>Phương thức thanh toán — bật/tắt theo kênh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16198" y="2377440"/>
            <a:ext cx="21268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898781"/>
                </a:solidFill>
                <a:latin typeface="Calibri"/>
              </a:rPr>
              <a:t>LongNH156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269894" y="2633472"/>
            <a:ext cx="2318918" cy="603504"/>
          </a:xfrm>
          <a:prstGeom prst="round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269894" y="2688336"/>
            <a:ext cx="45720" cy="49377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3416198" y="2697479"/>
            <a:ext cx="594360" cy="155448"/>
          </a:xfrm>
          <a:prstGeom prst="roundRect">
            <a:avLst/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416198" y="2697479"/>
            <a:ext cx="59436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2A78D6"/>
                </a:solidFill>
                <a:latin typeface="Calibri"/>
              </a:rPr>
              <a:t>CMS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074566" y="2697479"/>
            <a:ext cx="1051560" cy="155448"/>
          </a:xfrm>
          <a:prstGeom prst="roundRect">
            <a:avLst/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074566" y="2697479"/>
            <a:ext cx="105156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2A78D6"/>
                </a:solidFill>
                <a:latin typeface="Calibri"/>
              </a:rPr>
              <a:t>● Đang phân tích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16198" y="2880360"/>
            <a:ext cx="212689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B0B0B"/>
                </a:solidFill>
                <a:latin typeface="Calibri"/>
              </a:rPr>
              <a:t>Cấu hình nội dung Gói bán / Combo / SA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16198" y="3072384"/>
            <a:ext cx="21268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898781"/>
                </a:solidFill>
                <a:latin typeface="Calibri"/>
              </a:rPr>
              <a:t>LongNH156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269894" y="3328415"/>
            <a:ext cx="2318918" cy="603504"/>
          </a:xfrm>
          <a:prstGeom prst="round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269894" y="3383279"/>
            <a:ext cx="45720" cy="49377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3416198" y="3392423"/>
            <a:ext cx="594360" cy="155448"/>
          </a:xfrm>
          <a:prstGeom prst="roundRect">
            <a:avLst/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416198" y="3392423"/>
            <a:ext cx="59436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EB6834"/>
                </a:solidFill>
                <a:latin typeface="Calibri"/>
              </a:rPr>
              <a:t>WEB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074566" y="3392423"/>
            <a:ext cx="1051560" cy="155448"/>
          </a:xfrm>
          <a:prstGeom prst="roundRect">
            <a:avLst/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074566" y="3392423"/>
            <a:ext cx="105156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2A78D6"/>
                </a:solidFill>
                <a:latin typeface="Calibri"/>
              </a:rPr>
              <a:t>● Đang phân tích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16198" y="3575303"/>
            <a:ext cx="212689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B0B0B"/>
                </a:solidFill>
                <a:latin typeface="Calibri"/>
              </a:rPr>
              <a:t>Rule ưu tiên/loại trừ &amp; cấu hình chi tiết Voucher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416198" y="3767328"/>
            <a:ext cx="21268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898781"/>
                </a:solidFill>
                <a:latin typeface="Calibri"/>
              </a:rPr>
              <a:t>ThuyTT104 · Phụ thuộc: Luồng giỏ hàng (T8) hoàn tất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269894" y="4023359"/>
            <a:ext cx="2318918" cy="603504"/>
          </a:xfrm>
          <a:prstGeom prst="round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69894" y="4078223"/>
            <a:ext cx="45720" cy="49377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3416198" y="4087368"/>
            <a:ext cx="594360" cy="155448"/>
          </a:xfrm>
          <a:prstGeom prst="roundRect">
            <a:avLst/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416198" y="4087368"/>
            <a:ext cx="59436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2A78D6"/>
                </a:solidFill>
                <a:latin typeface="Calibri"/>
              </a:rPr>
              <a:t>CMS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074566" y="4087368"/>
            <a:ext cx="1051560" cy="155448"/>
          </a:xfrm>
          <a:prstGeom prst="roundRect">
            <a:avLst/>
          </a:prstGeom>
          <a:solidFill>
            <a:srgbClr val="FBF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074566" y="4087368"/>
            <a:ext cx="105156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B8860B"/>
                </a:solidFill>
                <a:latin typeface="Calibri"/>
              </a:rPr>
              <a:t>● Đã tiếp nhận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16198" y="4270248"/>
            <a:ext cx="212689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B0B0B"/>
                </a:solidFill>
                <a:latin typeface="Calibri"/>
              </a:rPr>
              <a:t>Quản lý bài viết của tác giả (tin tức)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416198" y="4462272"/>
            <a:ext cx="21268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898781"/>
                </a:solidFill>
                <a:latin typeface="Calibri"/>
              </a:rPr>
              <a:t>LongNH156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863132" y="1371600"/>
            <a:ext cx="2538374" cy="3483864"/>
          </a:xfrm>
          <a:prstGeom prst="round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000292" y="1508760"/>
            <a:ext cx="54864" cy="2011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7452" y="1481328"/>
            <a:ext cx="217261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B0B0B"/>
                </a:solidFill>
                <a:latin typeface="Calibri"/>
              </a:rPr>
              <a:t>Tháng 10/2026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000292" y="1737360"/>
            <a:ext cx="153253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2514E"/>
                </a:solidFill>
                <a:latin typeface="Calibri"/>
              </a:rPr>
              <a:t>Trải nghiệm tìm/so sánh SP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441387" y="1737360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52514E"/>
                </a:solidFill>
                <a:latin typeface="Calibri"/>
              </a:rPr>
              <a:t>4 hạng mục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972860" y="1938528"/>
            <a:ext cx="2318918" cy="603504"/>
          </a:xfrm>
          <a:prstGeom prst="round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972860" y="1993392"/>
            <a:ext cx="45720" cy="49377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6119164" y="2002536"/>
            <a:ext cx="594360" cy="155448"/>
          </a:xfrm>
          <a:prstGeom prst="roundRect">
            <a:avLst/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19164" y="2002536"/>
            <a:ext cx="59436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2A78D6"/>
                </a:solidFill>
                <a:latin typeface="Calibri"/>
              </a:rPr>
              <a:t>CMS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777532" y="2002536"/>
            <a:ext cx="1051560" cy="155448"/>
          </a:xfrm>
          <a:prstGeom prst="roundRect">
            <a:avLst/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777532" y="2002536"/>
            <a:ext cx="105156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2A78D6"/>
                </a:solidFill>
                <a:latin typeface="Calibri"/>
              </a:rPr>
              <a:t>● Đang phân tích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119164" y="2185416"/>
            <a:ext cx="212689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B0B0B"/>
                </a:solidFill>
                <a:latin typeface="Calibri"/>
              </a:rPr>
              <a:t>Trang phòng giao dịch — UI tìm kiếm mới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119164" y="2377440"/>
            <a:ext cx="21268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898781"/>
                </a:solidFill>
                <a:latin typeface="Calibri"/>
              </a:rPr>
              <a:t>SonLN11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5972860" y="2633472"/>
            <a:ext cx="2318918" cy="603504"/>
          </a:xfrm>
          <a:prstGeom prst="round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5972860" y="2688336"/>
            <a:ext cx="45720" cy="49377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6119164" y="2697479"/>
            <a:ext cx="594360" cy="155448"/>
          </a:xfrm>
          <a:prstGeom prst="roundRect">
            <a:avLst/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119164" y="2697479"/>
            <a:ext cx="59436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EB6834"/>
                </a:solidFill>
                <a:latin typeface="Calibri"/>
              </a:rPr>
              <a:t>WEB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777532" y="2697479"/>
            <a:ext cx="1051560" cy="155448"/>
          </a:xfrm>
          <a:prstGeom prst="roundRect">
            <a:avLst/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777532" y="2697479"/>
            <a:ext cx="105156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2A78D6"/>
                </a:solidFill>
                <a:latin typeface="Calibri"/>
              </a:rPr>
              <a:t>● Đang phân tích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119164" y="2880360"/>
            <a:ext cx="212689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B0B0B"/>
                </a:solidFill>
                <a:latin typeface="Calibri"/>
              </a:rPr>
              <a:t>Tính năng tìm kiếm sản phẩm trên website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972860" y="3328415"/>
            <a:ext cx="2318918" cy="603504"/>
          </a:xfrm>
          <a:prstGeom prst="round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5972860" y="3383279"/>
            <a:ext cx="45720" cy="49377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6119164" y="3392423"/>
            <a:ext cx="594360" cy="155448"/>
          </a:xfrm>
          <a:prstGeom prst="roundRect">
            <a:avLst/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19164" y="3392423"/>
            <a:ext cx="59436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EB6834"/>
                </a:solidFill>
                <a:latin typeface="Calibri"/>
              </a:rPr>
              <a:t>WEB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777532" y="3392423"/>
            <a:ext cx="1051560" cy="155448"/>
          </a:xfrm>
          <a:prstGeom prst="roundRect">
            <a:avLst/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777532" y="3392423"/>
            <a:ext cx="105156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2A78D6"/>
                </a:solidFill>
                <a:latin typeface="Calibri"/>
              </a:rPr>
              <a:t>● Đang phân tích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119164" y="3575303"/>
            <a:ext cx="212689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B0B0B"/>
                </a:solidFill>
                <a:latin typeface="Calibri"/>
              </a:rPr>
              <a:t>Tính năng so sánh sản phẩm (PLP/PDP)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5972860" y="4023359"/>
            <a:ext cx="2318918" cy="603504"/>
          </a:xfrm>
          <a:prstGeom prst="round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5972860" y="4078223"/>
            <a:ext cx="45720" cy="49377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6119164" y="4087368"/>
            <a:ext cx="594360" cy="155448"/>
          </a:xfrm>
          <a:prstGeom prst="roundRect">
            <a:avLst/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119164" y="4087368"/>
            <a:ext cx="59436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2A78D6"/>
                </a:solidFill>
                <a:latin typeface="Calibri"/>
              </a:rPr>
              <a:t>CMS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6777532" y="4087368"/>
            <a:ext cx="1051560" cy="155448"/>
          </a:xfrm>
          <a:prstGeom prst="roundRect">
            <a:avLst/>
          </a:prstGeom>
          <a:solidFill>
            <a:srgbClr val="EF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777532" y="4087368"/>
            <a:ext cx="105156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898781"/>
                </a:solidFill>
                <a:latin typeface="Calibri"/>
              </a:rPr>
              <a:t>● Chưa tiếp nhận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119164" y="4270248"/>
            <a:ext cx="212689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B0B0B"/>
                </a:solidFill>
                <a:latin typeface="Calibri"/>
              </a:rPr>
              <a:t>Quản lý ID cho banner page Tin tức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119164" y="4462272"/>
            <a:ext cx="21268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898781"/>
                </a:solidFill>
                <a:latin typeface="Calibri"/>
              </a:rPr>
              <a:t>LongNH156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8566099" y="1371600"/>
            <a:ext cx="2538374" cy="2093976"/>
          </a:xfrm>
          <a:prstGeom prst="round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8703259" y="1508760"/>
            <a:ext cx="54864" cy="201168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840419" y="1481328"/>
            <a:ext cx="217261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B0B0B"/>
                </a:solidFill>
                <a:latin typeface="Calibri"/>
              </a:rPr>
              <a:t>Tháng 11/2026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703259" y="1737360"/>
            <a:ext cx="153253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2514E"/>
                </a:solidFill>
                <a:latin typeface="Calibri"/>
              </a:rPr>
              <a:t>Combo &amp; Referral (GTBB)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144353" y="1737360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52514E"/>
                </a:solidFill>
                <a:latin typeface="Calibri"/>
              </a:rPr>
              <a:t>2 hạng mục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8675827" y="1938528"/>
            <a:ext cx="2318918" cy="603504"/>
          </a:xfrm>
          <a:prstGeom prst="round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675827" y="1993392"/>
            <a:ext cx="45720" cy="49377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8822131" y="2002536"/>
            <a:ext cx="594360" cy="155448"/>
          </a:xfrm>
          <a:prstGeom prst="roundRect">
            <a:avLst/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822131" y="2002536"/>
            <a:ext cx="59436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EB6834"/>
                </a:solidFill>
                <a:latin typeface="Calibri"/>
              </a:rPr>
              <a:t>WEB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9480499" y="2002536"/>
            <a:ext cx="1051560" cy="155448"/>
          </a:xfrm>
          <a:prstGeom prst="roundRect">
            <a:avLst/>
          </a:prstGeom>
          <a:solidFill>
            <a:srgbClr val="EF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480499" y="2002536"/>
            <a:ext cx="105156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898781"/>
                </a:solidFill>
                <a:latin typeface="Calibri"/>
              </a:rPr>
              <a:t>● Chưa tiếp nhận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822131" y="2185416"/>
            <a:ext cx="212689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B0B0B"/>
                </a:solidFill>
                <a:latin typeface="Calibri"/>
              </a:rPr>
              <a:t>Add Combo Camera tại PDP Camera Only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822131" y="2377440"/>
            <a:ext cx="21268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898781"/>
                </a:solidFill>
                <a:latin typeface="Calibri"/>
              </a:rPr>
              <a:t>SonLN11, ThuyTT104 · Phụ thuộc: Cấu hình Combo/SA (T9) hoàn tất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8675827" y="2633472"/>
            <a:ext cx="2318918" cy="603504"/>
          </a:xfrm>
          <a:prstGeom prst="round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675827" y="2688336"/>
            <a:ext cx="45720" cy="49377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8822131" y="2697479"/>
            <a:ext cx="594360" cy="155448"/>
          </a:xfrm>
          <a:prstGeom prst="roundRect">
            <a:avLst/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822131" y="2697479"/>
            <a:ext cx="59436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EB6834"/>
                </a:solidFill>
                <a:latin typeface="Calibri"/>
              </a:rPr>
              <a:t>WEB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9480499" y="2697479"/>
            <a:ext cx="1051560" cy="155448"/>
          </a:xfrm>
          <a:prstGeom prst="roundRect">
            <a:avLst/>
          </a:prstGeom>
          <a:solidFill>
            <a:srgbClr val="EF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480499" y="2697479"/>
            <a:ext cx="105156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898781"/>
                </a:solidFill>
                <a:latin typeface="Calibri"/>
              </a:rPr>
              <a:t>● Chưa tiếp nhận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822131" y="2880360"/>
            <a:ext cx="212689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B0B0B"/>
                </a:solidFill>
                <a:latin typeface="Calibri"/>
              </a:rPr>
              <a:t>CS tặng thiết bị cho GTBB (referral)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822131" y="3072384"/>
            <a:ext cx="21268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898781"/>
                </a:solidFill>
                <a:latin typeface="Calibri"/>
              </a:rPr>
              <a:t>Phụ thuộc: Rule Voucher (T9) hoàn tất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1269065" y="1371600"/>
            <a:ext cx="2538374" cy="1399031"/>
          </a:xfrm>
          <a:prstGeom prst="roundRect">
            <a:avLst/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11406225" y="1508760"/>
            <a:ext cx="54864" cy="201168"/>
          </a:xfrm>
          <a:prstGeom prst="rect">
            <a:avLst/>
          </a:prstGeom>
          <a:solidFill>
            <a:srgbClr val="5B5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1543385" y="1481328"/>
            <a:ext cx="217261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B0B0B"/>
                </a:solidFill>
                <a:latin typeface="Calibri"/>
              </a:rPr>
              <a:t>Chưa phân loại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1406225" y="1737360"/>
            <a:ext cx="153253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2514E"/>
                </a:solidFill>
                <a:latin typeface="Calibri"/>
              </a:rPr>
              <a:t>Cần grooming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2847319" y="1737360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52514E"/>
                </a:solidFill>
                <a:latin typeface="Calibri"/>
              </a:rPr>
              <a:t>1 hạng mục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1378793" y="1938528"/>
            <a:ext cx="2318918" cy="603504"/>
          </a:xfrm>
          <a:prstGeom prst="roundRect">
            <a:avLst/>
          </a:prstGeom>
          <a:solidFill>
            <a:srgbClr val="F9F9F7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1378793" y="1993392"/>
            <a:ext cx="45720" cy="493776"/>
          </a:xfrm>
          <a:prstGeom prst="rect">
            <a:avLst/>
          </a:prstGeom>
          <a:solidFill>
            <a:srgbClr val="5B5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11525097" y="2002536"/>
            <a:ext cx="594360" cy="155448"/>
          </a:xfrm>
          <a:prstGeom prst="roundRect">
            <a:avLst/>
          </a:prstGeom>
          <a:solidFill>
            <a:srgbClr val="EE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1525097" y="2002536"/>
            <a:ext cx="59436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5B5850"/>
                </a:solidFill>
                <a:latin typeface="Calibri"/>
              </a:rPr>
              <a:t>CHƯA GÁN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12183465" y="2002536"/>
            <a:ext cx="1051560" cy="155448"/>
          </a:xfrm>
          <a:prstGeom prst="roundRect">
            <a:avLst/>
          </a:prstGeom>
          <a:solidFill>
            <a:srgbClr val="EF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2183465" y="2002536"/>
            <a:ext cx="105156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50" b="1" i="0">
                <a:solidFill>
                  <a:srgbClr val="898781"/>
                </a:solidFill>
                <a:latin typeface="Calibri"/>
              </a:rPr>
              <a:t>● Chưa gán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1525097" y="2185416"/>
            <a:ext cx="212689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B0B0B"/>
                </a:solidFill>
                <a:latin typeface="Calibri"/>
              </a:rPr>
              <a:t>Thêm điểm chạm cho chat bot Daisy trên HomePage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1525097" y="2377440"/>
            <a:ext cx="21268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898781"/>
                </a:solidFill>
                <a:latin typeface="Calibri"/>
              </a:rPr>
              <a:t>Cần gán Epic/PIC/Trạng thái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57200" y="7863840"/>
            <a:ext cx="1335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898781"/>
                </a:solidFill>
                <a:latin typeface="Calibri"/>
              </a:rPr>
              <a:t>Ghi chú: Lộ trình ước tính, chưa phải mốc cam kết chính thức. Chi tiết: po/doc.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